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BTR / PBSA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Intelligence Platform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source of BD truth for UK BTR &amp; PBSA — every scheme, every planning application, every operator.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3159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27,767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BTR / PBSA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APPS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43159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1.35M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7200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councils, daily refresh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BD-ACTIONABLE NOW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0" y="43159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50392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showing distress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6400800"/>
            <a:ext cx="10881360" cy="0"/>
          </a:xfrm>
          <a:prstGeom prst="line">
            <a:avLst/>
          </a:prstGeom>
          <a:noFill/>
          <a:ln w="9525">
            <a:solidFill>
              <a:srgbClr val="2632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BD Leadership 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BD intel to one live source of truth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365760"/>
            <a:ext cx="109728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00" cy="484632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484632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2768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scattered across Knight Frank, JLL, BPF, press releases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2369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 pipeline surfaces weeks after planning permission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41970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view of which operator runs which scheme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120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515721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signals only land after they're already public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486400" cy="484632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417320"/>
            <a:ext cx="73152" cy="4846320"/>
          </a:xfrm>
          <a:prstGeom prst="rect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TOOL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22768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27,767 operating schemes — operator, owner, units, contract, postcode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32369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1.35M planning apps refreshed daily, BTR-eligible flagged automatically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0" y="41970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distress score on every operator — switch opportunities surface first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5120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515721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rank, deep-link — built for sales calls and pitch decks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2632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BTR/PBSA BD Intelligence Platform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sees on day 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pipeline, distress, schemes in one 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365760"/>
            <a:ext cx="109728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389888"/>
            <a:ext cx="6638544" cy="4992624"/>
          </a:xfrm>
          <a:prstGeom prst="rect">
            <a:avLst/>
          </a:prstGeom>
          <a:solidFill>
            <a:srgbClr val="263247"/>
          </a:solidFill>
          <a:ln w="12700">
            <a:solidFill>
              <a:srgbClr val="263247"/>
            </a:solidFill>
            <a:prstDash val="solid"/>
          </a:ln>
        </p:spPr>
      </p:sp>
      <p:pic>
        <p:nvPicPr>
          <p:cNvPr id="6" name="Image 0" descr="C:\Users\garvi\uk-ops-bd-platform\deck\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6583680" cy="4937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417320"/>
            <a:ext cx="45720" cy="84124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43800" y="14173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3800" y="17282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1.35M apps · 332 distress · contracts expiring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06640" y="2386584"/>
            <a:ext cx="45720" cy="841248"/>
          </a:xfrm>
          <a:prstGeom prst="rect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43800" y="23865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velocity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3800" y="2697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funnel from Identified to Won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06640" y="3355848"/>
            <a:ext cx="45720" cy="841248"/>
          </a:xfrm>
          <a:prstGeom prst="rect">
            <a:avLst/>
          </a:prstGeom>
          <a:solidFill>
            <a:srgbClr val="5EB1FF"/>
          </a:solidFill>
          <a:ln w="12700">
            <a:solidFill>
              <a:srgbClr val="5EB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33558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intelligence feed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36667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high-value apps surfaced minute-by-minute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06640" y="4325112"/>
            <a:ext cx="45720" cy="841248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3800" y="43251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alerts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3800" y="46360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flagged as their CH filings change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06640" y="5294376"/>
            <a:ext cx="45720" cy="841248"/>
          </a:xfrm>
          <a:prstGeom prst="rect">
            <a:avLst/>
          </a:prstGeom>
          <a:solidFill>
            <a:srgbClr val="B197D6"/>
          </a:solidFill>
          <a:ln w="12700">
            <a:solidFill>
              <a:srgbClr val="B197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43800" y="529437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3800" y="56052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opportunity, jump to scheme, export list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2632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BTR/PBSA BD Intelligence Platform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data — how BD uses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27,767 BTR / PBSA schemes · operator · owner · units · rent · contract · distress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365760"/>
            <a:ext cx="109728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389888"/>
            <a:ext cx="5724144" cy="4306824"/>
          </a:xfrm>
          <a:prstGeom prst="rect">
            <a:avLst/>
          </a:prstGeom>
          <a:solidFill>
            <a:srgbClr val="263247"/>
          </a:solidFill>
          <a:ln w="12700">
            <a:solidFill>
              <a:srgbClr val="263247"/>
            </a:solidFill>
            <a:prstDash val="solid"/>
          </a:ln>
        </p:spPr>
      </p:sp>
      <p:pic>
        <p:nvPicPr>
          <p:cNvPr id="6" name="Image 0" descr="C:\Users\garvi\uk-ops-bd-platform\deck\shots\sche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66928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BD DOES WITH IT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92240" y="1984248"/>
            <a:ext cx="164592" cy="164592"/>
          </a:xfrm>
          <a:prstGeom prst="ellipse">
            <a:avLst/>
          </a:prstGeom>
          <a:solidFill>
            <a:srgbClr val="5EB1FF"/>
          </a:solidFill>
          <a:ln w="12700">
            <a:solidFill>
              <a:srgbClr val="5EB1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benchmarking &amp; pricing defence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92240" y="2578608"/>
            <a:ext cx="164592" cy="164592"/>
          </a:xfrm>
          <a:prstGeom prst="ellipse">
            <a:avLst/>
          </a:prstGeom>
          <a:solidFill>
            <a:srgbClr val="B197D6"/>
          </a:solidFill>
          <a:ln w="12700">
            <a:solidFill>
              <a:srgbClr val="B197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targeting — find every scheme in their book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92240" y="3172968"/>
            <a:ext cx="164592" cy="164592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shortlist — 332 schemes in distress today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92240" y="3767328"/>
            <a:ext cx="164592" cy="164592"/>
          </a:xfrm>
          <a:prstGeom prst="ellipse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&amp; white-space discovery by city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92240" y="4361688"/>
            <a:ext cx="164592" cy="16459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operator changes &amp; contract expiries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1E2D4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5907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27,767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645920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98064" y="5907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895344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records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47488" y="5907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144768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linked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296912" y="5907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394192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in distress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546336" y="5907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643616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targets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26324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BTR/PBSA BD Intelligence Platform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data — how BD uses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1.35M planning applications · BTR opportunities surfaced before competitors find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365760"/>
            <a:ext cx="109728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BD DOES WITH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84248"/>
            <a:ext cx="164592" cy="164592"/>
          </a:xfrm>
          <a:prstGeom prst="ellipse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BTR pipeline — before competitors notice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164592" cy="164592"/>
          </a:xfrm>
          <a:prstGeom prst="ellipse">
            <a:avLst/>
          </a:prstGeom>
          <a:solidFill>
            <a:srgbClr val="5EB1FF"/>
          </a:solidFill>
          <a:ln w="12700">
            <a:solidFill>
              <a:srgbClr val="5EB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68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the right developer at the right moment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72968"/>
            <a:ext cx="164592" cy="164592"/>
          </a:xfrm>
          <a:prstGeom prst="ellipse">
            <a:avLst/>
          </a:prstGeom>
          <a:solidFill>
            <a:srgbClr val="B197D6"/>
          </a:solidFill>
          <a:ln w="12700">
            <a:solidFill>
              <a:srgbClr val="B19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developer pipelines — Berkeley, Quintain, Moda…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67328"/>
            <a:ext cx="164592" cy="16459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relationships — see who's planning-friendly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61688"/>
            <a:ext cx="164592" cy="164592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BD-actionable filter — Pending / Pre-App / Submitted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07608" y="1389888"/>
            <a:ext cx="5724144" cy="4306824"/>
          </a:xfrm>
          <a:prstGeom prst="rect">
            <a:avLst/>
          </a:prstGeom>
          <a:solidFill>
            <a:srgbClr val="263247"/>
          </a:solidFill>
          <a:ln w="12700">
            <a:solidFill>
              <a:srgbClr val="263247"/>
            </a:solidFill>
            <a:prstDash val="solid"/>
          </a:ln>
        </p:spPr>
      </p:sp>
      <p:pic>
        <p:nvPicPr>
          <p:cNvPr id="17" name="Image 0" descr="C:\Users\garvi\uk-ops-bd-platform\deck\shots\appl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17320"/>
            <a:ext cx="5669280" cy="42519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1E2D4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5907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1.35M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645920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98064" y="5907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895344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Councils tracked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47488" y="5907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144768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BTR-eligible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296912" y="5907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394192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BD-actionable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546336" y="5907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643616" y="5971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every day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26324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BTR/PBSA BD Intelligence Platform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intelligence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wobbling, which schemes are exposed, where the BD play 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365760"/>
            <a:ext cx="109728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389888"/>
            <a:ext cx="6638544" cy="4992624"/>
          </a:xfrm>
          <a:prstGeom prst="rect">
            <a:avLst/>
          </a:prstGeom>
          <a:solidFill>
            <a:srgbClr val="263247"/>
          </a:solidFill>
          <a:ln w="12700">
            <a:solidFill>
              <a:srgbClr val="263247"/>
            </a:solidFill>
            <a:prstDash val="solid"/>
          </a:ln>
        </p:spPr>
      </p:sp>
      <p:pic>
        <p:nvPicPr>
          <p:cNvPr id="6" name="Image 0" descr="C:\Users\garvi\uk-ops-bd-platform\deck\shots\arr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658368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06640" y="1783080"/>
            <a:ext cx="4389120" cy="10058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0" y="1783080"/>
            <a:ext cx="73152" cy="100584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18562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052560" y="20939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(≥80)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06640" y="2898648"/>
            <a:ext cx="4389120" cy="10058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0" y="2898648"/>
            <a:ext cx="73152" cy="10058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2971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052560" y="32095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Distressed (60-79)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06640" y="4014216"/>
            <a:ext cx="4389120" cy="10058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0" y="4014216"/>
            <a:ext cx="73152" cy="1005840"/>
          </a:xfrm>
          <a:prstGeom prst="rect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40873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17,649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052560" y="4325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cohort scored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406640" y="5129784"/>
            <a:ext cx="4389120" cy="10058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06640" y="5129784"/>
            <a:ext cx="73152" cy="1005840"/>
          </a:xfrm>
          <a:prstGeom prst="rect">
            <a:avLst/>
          </a:prstGeom>
          <a:solidFill>
            <a:srgbClr val="5EB1FF"/>
          </a:solidFill>
          <a:ln w="12700">
            <a:solidFill>
              <a:srgbClr val="5EB1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520293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9052560" y="5440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targets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2632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BTR/PBSA BD Intelligence Platform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honest gaps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today, what's still thin, and the business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365760"/>
            <a:ext cx="109728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97480" cy="10058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5486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COUNCILS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01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417 LPAs (81%)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697480" cy="10058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1417320"/>
            <a:ext cx="2697480" cy="54864"/>
          </a:xfrm>
          <a:prstGeom prst="rect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554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LINKAGE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02152" y="1801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02152" y="21945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scheme records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97480" cy="10058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1344" y="1417320"/>
            <a:ext cx="2697480" cy="54864"/>
          </a:xfrm>
          <a:prstGeom prst="rect">
            <a:avLst/>
          </a:prstGeom>
          <a:solidFill>
            <a:srgbClr val="5EB1FF"/>
          </a:solidFill>
          <a:ln w="12700">
            <a:solidFill>
              <a:srgbClr val="5EB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554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SCORED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1801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27,503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64224" y="21945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BD-cohort row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43416" y="1417320"/>
            <a:ext cx="2697480" cy="10058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3416" y="1417320"/>
            <a:ext cx="2697480" cy="54864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6296" y="1554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ARREARS SCORED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26296" y="1801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26296" y="21945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BD cohort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606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788920"/>
            <a:ext cx="3627120" cy="333756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788920"/>
            <a:ext cx="73152" cy="333756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" y="3383280"/>
            <a:ext cx="326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data is metadata-thin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4023360"/>
            <a:ext cx="326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 of council planning records lack unit counts and developer names. Top operators captured reliably; mid-tier weaker.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5394960"/>
            <a:ext cx="3169920" cy="0"/>
          </a:xfrm>
          <a:prstGeom prst="line">
            <a:avLst/>
          </a:prstGeom>
          <a:noFill/>
          <a:ln w="6350">
            <a:solidFill>
              <a:srgbClr val="2632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486400"/>
            <a:ext cx="326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" y="571500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developer pipeline under-represented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67200" y="2788920"/>
            <a:ext cx="3627120" cy="333756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67200" y="2788920"/>
            <a:ext cx="73152" cy="33375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580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495800" y="3383280"/>
            <a:ext cx="326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linkage incomplete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95800" y="4023360"/>
            <a:ext cx="326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1,468 schemes have no operator. 8,500 more have an operator named but no Companies House link, so distress can't flow through.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95800" y="5394960"/>
            <a:ext cx="3169920" cy="0"/>
          </a:xfrm>
          <a:prstGeom prst="line">
            <a:avLst/>
          </a:prstGeom>
          <a:noFill/>
          <a:ln w="6350">
            <a:solidFill>
              <a:srgbClr val="2632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5800" y="5486400"/>
            <a:ext cx="326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95800" y="571500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leaderboard understated — 5× upside on completion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77200" y="2788920"/>
            <a:ext cx="3627120" cy="333756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77200" y="2788920"/>
            <a:ext cx="73152" cy="3337560"/>
          </a:xfrm>
          <a:prstGeom prst="rect">
            <a:avLst/>
          </a:prstGeom>
          <a:solidFill>
            <a:srgbClr val="5EB1FF"/>
          </a:solidFill>
          <a:ln w="12700">
            <a:solidFill>
              <a:srgbClr val="5EB1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0580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305800" y="3383280"/>
            <a:ext cx="326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occupancy + CSAT not wired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05800" y="4023360"/>
            <a:ext cx="326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score has 4 dimensions — 2 are live (contract urgency, distress); 2 (occupancy, Google Reviews) are baseline-defaulted.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05800" y="5394960"/>
            <a:ext cx="3169920" cy="0"/>
          </a:xfrm>
          <a:prstGeom prst="line">
            <a:avLst/>
          </a:prstGeom>
          <a:noFill/>
          <a:ln w="6350">
            <a:solidFill>
              <a:srgbClr val="2632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05800" y="5486400"/>
            <a:ext cx="326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05800" y="571500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these doubles operator-switch ranking precision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26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BTR/PBSA BD Intelligence Platform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intelligence — scheme → SPV → fund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PE owners, white-label SPVs and asset-management platforms behind every building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365760"/>
            <a:ext cx="109728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UNMASK THE WHITE LABEL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212080" cy="877824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73152" cy="87782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scheme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on the building — already in platform: 27,767 schemes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3591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0360" y="26151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5212080" cy="877824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73152" cy="877824"/>
          </a:xfrm>
          <a:prstGeom prst="rect">
            <a:avLst/>
          </a:prstGeom>
          <a:solidFill>
            <a:srgbClr val="5EB1FF"/>
          </a:solidFill>
          <a:ln w="12700">
            <a:solidFill>
              <a:srgbClr val="5EB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077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SPV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Single-asset company named on the land title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4564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LAND REGISTRY CCOD / OCOD — £0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80360" y="37124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5212080" cy="877824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31920"/>
            <a:ext cx="73152" cy="877824"/>
          </a:xfrm>
          <a:prstGeom prst="rect">
            <a:avLst/>
          </a:prstGeom>
          <a:solidFill>
            <a:srgbClr val="B197D6"/>
          </a:solidFill>
          <a:ln w="12700">
            <a:solidFill>
              <a:srgbClr val="B19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05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Asset-management platform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297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of SPVs sharing a registered address + officers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45537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1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HOUSE — £0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80360" y="48097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5212080" cy="877824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029200"/>
            <a:ext cx="73152" cy="877824"/>
          </a:xfrm>
          <a:prstGeom prst="rect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1023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owner / PE fund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5394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Persons-with-significant-control chain + overseas entity register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565099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HOUSE PSC + ROE — £0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1371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23 TARGET CITIES — COVERAGE TODAY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1737360"/>
            <a:ext cx="5669280" cy="292608"/>
          </a:xfrm>
          <a:prstGeom prst="rect">
            <a:avLst/>
          </a:prstGeom>
          <a:solidFill>
            <a:srgbClr val="1E2D4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773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61120" y="1773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921240" y="17739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17739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2029968"/>
            <a:ext cx="5669280" cy="676656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2029968"/>
            <a:ext cx="54864" cy="676656"/>
          </a:xfrm>
          <a:prstGeom prst="rect">
            <a:avLst/>
          </a:prstGeom>
          <a:solidFill>
            <a:srgbClr val="26324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Opportunity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2395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· Bristol · Edinburgh · Glasgow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961120" y="22128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921240" y="22128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789920" y="22128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35040" y="2706624"/>
            <a:ext cx="5669280" cy="676656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2706624"/>
            <a:ext cx="54864" cy="676656"/>
          </a:xfrm>
          <a:prstGeom prst="rect">
            <a:avLst/>
          </a:prstGeom>
          <a:solidFill>
            <a:srgbClr val="26324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779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Institutional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72200" y="3072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· Birmingham · Liverpool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61120" y="28895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1,567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921240" y="28895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789920" y="28895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035040" y="3383280"/>
            <a:ext cx="5669280" cy="676656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0" y="3383280"/>
            <a:ext cx="54864" cy="67665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— FOCUS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172200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Leeds · Cardiff · Exeter · S'oton · M'bro · Colchester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961120" y="3566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921240" y="3566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789920" y="3566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035040" y="4059936"/>
            <a:ext cx="5669280" cy="676656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35040" y="4059936"/>
            <a:ext cx="54864" cy="67665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Potential — FOCUS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172200" y="4425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secondary university cities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961120" y="42428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9921240" y="42428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0789920" y="424281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035040" y="4873752"/>
            <a:ext cx="5669280" cy="868680"/>
          </a:xfrm>
          <a:prstGeom prst="rect">
            <a:avLst/>
          </a:prstGeom>
          <a:solidFill>
            <a:srgbClr val="152135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0" y="49651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GAP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17920" y="51937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 PBSA records exist across the 10 secondary university cities — real stock is 10–30 schemes per city. Find the stock first, then fill every field.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035040" y="583387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ceiling: offshore fund structures cap ownership resolution at ~80–90% — flagged in the UI, never silently missing.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26324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BTR/PBSA BD Intelligence Platform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 — step by step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development steps across four phases · ~3 weeks · focus market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365760"/>
            <a:ext cx="109728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00" cy="199339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199339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stock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83794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£0 (DEV)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1305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24128" y="21305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StuRents scraper — city → scheme, operator, rents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4323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4128" y="24323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AccommodationForStudents scraper (cross-check)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2734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4128" y="273405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operator-site scrapers to ~15 PBSA brands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30358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university halls pages in 10 secondary cities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486400" cy="199339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417320"/>
            <a:ext cx="73152" cy="1993392"/>
          </a:xfrm>
          <a:prstGeom prst="rect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270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operators &amp; merge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183794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 · £500 AI CREDITS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6520" y="21305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84848" y="21305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+ merge new schemes (existing pipeline)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24323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84848" y="24323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enrichment over every focus-city operator gap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2734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84848" y="273405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curation residue + lock verified fields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5486400" cy="199339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538728"/>
            <a:ext cx="73152" cy="1993392"/>
          </a:xfrm>
          <a:prstGeom prst="rect">
            <a:avLst/>
          </a:prstGeom>
          <a:solidFill>
            <a:srgbClr val="5EB1FF"/>
          </a:solidFill>
          <a:ln w="12700">
            <a:solidFill>
              <a:srgbClr val="5EB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6484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pipeline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" y="39593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 · £0 — FREE REGISTERS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4251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24128" y="4251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Land Registry CCOD / OCOD monthly files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" y="4553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24128" y="45537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titles → schemes by postcode + address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5800" y="4855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24128" y="485546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Companies House PSC chains: SPV → ultimate owner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5800" y="5157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24128" y="51572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SPVs by address + officers → platforms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3538728"/>
            <a:ext cx="5486400" cy="199339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3538728"/>
            <a:ext cx="73152" cy="1993392"/>
          </a:xfrm>
          <a:prstGeom prst="rect">
            <a:avLst/>
          </a:prstGeom>
          <a:solidFill>
            <a:srgbClr val="B197D6"/>
          </a:solidFill>
          <a:ln w="12700">
            <a:solidFill>
              <a:srgbClr val="B19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36484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for BD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446520" y="39593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1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3+ · INCLUDED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46520" y="4251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1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84848" y="4251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tab: scheme → SPV → platform → fund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46520" y="4553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1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784848" y="45537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/ asset-manager target-list view + export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46520" y="4855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1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84848" y="485546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Contract-end AI estimation with confidence flags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5669280"/>
            <a:ext cx="11247120" cy="530352"/>
          </a:xfrm>
          <a:prstGeom prst="rect">
            <a:avLst/>
          </a:prstGeom>
          <a:solidFill>
            <a:srgbClr val="152135"/>
          </a:solidFill>
          <a:ln w="15875">
            <a:solidFill>
              <a:srgbClr val="F2A6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5806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834640" y="578815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£500 – £1,000 one-off</a:t>
            </a:r>
            <a:pPr indent="0" marL="0">
              <a:buNone/>
            </a:pPr>
            <a:r>
              <a:rPr lang="en-US" sz="12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(AI credits)  ·  </a:t>
            </a:r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weeks dev</a:t>
            </a:r>
            <a:pPr indent="0" marL="0">
              <a:buNone/>
            </a:pPr>
            <a:r>
              <a:rPr lang="en-US" sz="12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 data cost</a:t>
            </a:r>
            <a:pPr indent="0" marL="0">
              <a:buNone/>
            </a:pPr>
            <a:r>
              <a:rPr lang="en-US" sz="12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ownership source is a free public register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26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BTR/PBSA BD Intelligence Platform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scraped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scrape targets to build or extend, plus three free public registers to integrate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365760"/>
            <a:ext cx="109728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SCRAPERS TO BUILD OR EXTEND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11247120" cy="43891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01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18105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PBSA scheme listed per city — name, address, operator, rooms, rents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0" y="1819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WK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1247120" cy="43891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95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AccommodationForStudents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3042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PBSA directory — cross-validates schemes and fills gaps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0" y="2313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WK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11247120" cy="43891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websites (~15 brands)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7980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Unite, iQ, Fresh, Vita, Yugo, Homes for Students, CRM, Prestige, Collegiate…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0" y="2807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· WK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11247120" cy="43891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82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halls pages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3291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halls + nomination stock across the 10 secondary cities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875520" y="3300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WK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11247120" cy="43891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/ Zoopla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37856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 + co-living listings and rent evidence in the focus cities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0" y="37947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· WK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2428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REGISTERS — API / BULK DOWNLOAD, NO SCRAPING NEEDED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11247120" cy="43891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72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HMLR CCOD + OCOD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46817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owner (SPV) of every UK title — company name + CH number, monthly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75520" y="46908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· WK 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5065776"/>
            <a:ext cx="11247120" cy="43891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House API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49040" y="51755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chains, officers, charges — already integrated for distress scoring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75520" y="51846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5559552"/>
            <a:ext cx="11247120" cy="438912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660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of Overseas Entities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49040" y="5669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 owners behind offshore vehicles holding UK property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875520" y="56784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· WK 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089904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scraping is rate-limited and respects robots.txt · registers are licensed open data · scheme records dedupe through the existing merge pipeline.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2632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BTR/PBSA BD Intelligence Platform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investment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targeted investments, sequenced into three phases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365760"/>
            <a:ext cx="109728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FUND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6858000" cy="365760"/>
          </a:xfrm>
          <a:prstGeom prst="rect">
            <a:avLst/>
          </a:prstGeom>
          <a:solidFill>
            <a:srgbClr val="1E2D4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01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1801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801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6858000" cy="7772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21408"/>
            <a:ext cx="54864" cy="7772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enrichment top-up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£500 → £5k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link on ~10–15k schemes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98648"/>
            <a:ext cx="6858000" cy="7772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98648"/>
            <a:ext cx="54864" cy="777240"/>
          </a:xfrm>
          <a:prstGeom prst="rect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63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 scheduled scrapers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3063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3063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new planning apps / day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75888"/>
            <a:ext cx="6858000" cy="7772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75888"/>
            <a:ext cx="54864" cy="777240"/>
          </a:xfrm>
          <a:prstGeom prst="rect">
            <a:avLst/>
          </a:prstGeom>
          <a:solidFill>
            <a:srgbClr val="5EB1FF"/>
          </a:solidFill>
          <a:ln w="12700">
            <a:solidFill>
              <a:srgbClr val="5EB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council planning crawls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0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 + 1 wk dev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3840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 pipeline 290 → 1,500–3,000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53128"/>
            <a:ext cx="6858000" cy="7772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453128"/>
            <a:ext cx="54864" cy="777240"/>
          </a:xfrm>
          <a:prstGeom prst="rect">
            <a:avLst/>
          </a:prstGeom>
          <a:solidFill>
            <a:srgbClr val="B197D6"/>
          </a:solidFill>
          <a:ln w="12700">
            <a:solidFill>
              <a:srgbClr val="B197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617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PBSA rent scraping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4617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 / month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52160" y="4617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UK Tier-1 rent benchmarks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230368"/>
            <a:ext cx="6858000" cy="77724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230368"/>
            <a:ext cx="54864" cy="77724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394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+ CSAT signals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89120" y="5394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 / month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52160" y="5394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45% of BD score weight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ROLL-OUT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89520" y="1783080"/>
            <a:ext cx="4114800" cy="141732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1783080"/>
            <a:ext cx="54864" cy="1417320"/>
          </a:xfrm>
          <a:prstGeom prst="rect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54112" y="1874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61120" y="1874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332720" y="1874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£500–1k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54112" y="2240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54112" y="2624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top-up, scrapers re-enabled, top-1k targets enriched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589520" y="3291840"/>
            <a:ext cx="4114800" cy="141732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3291840"/>
            <a:ext cx="54864" cy="1417320"/>
          </a:xfrm>
          <a:prstGeom prst="rect">
            <a:avLst/>
          </a:prstGeom>
          <a:solidFill>
            <a:srgbClr val="5EB1FF"/>
          </a:solidFill>
          <a:ln w="12700">
            <a:solidFill>
              <a:srgbClr val="5EB1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54112" y="3383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961120" y="3383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 – 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332720" y="3383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wks dev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54112" y="3749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extension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754112" y="4133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council crawls, full PBSA rent benchmark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89520" y="4800600"/>
            <a:ext cx="4114800" cy="1417320"/>
          </a:xfrm>
          <a:prstGeom prst="rect">
            <a:avLst/>
          </a:prstGeom>
          <a:solidFill>
            <a:srgbClr val="152135"/>
          </a:solidFill>
          <a:ln w="6350">
            <a:solidFill>
              <a:srgbClr val="26324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89520" y="4800600"/>
            <a:ext cx="54864" cy="14173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54112" y="4892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961120" y="4892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– 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332720" y="4892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£250 / mo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54112" y="52578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signals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754112" y="56418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+ vacancy live → full 100% BD score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26324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BTR/PBSA BD Intelligence Platform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BTR/PBSA BD Intelligence Platform</dc:title>
  <dc:subject>PptxGenJS Presentation</dc:subject>
  <dc:creator>BD Intelligence Platform</dc:creator>
  <cp:lastModifiedBy>BD Intelligence Platform</cp:lastModifiedBy>
  <cp:revision>1</cp:revision>
  <dcterms:created xsi:type="dcterms:W3CDTF">2026-06-11T21:31:12Z</dcterms:created>
  <dcterms:modified xsi:type="dcterms:W3CDTF">2026-06-11T21:31:12Z</dcterms:modified>
</cp:coreProperties>
</file>